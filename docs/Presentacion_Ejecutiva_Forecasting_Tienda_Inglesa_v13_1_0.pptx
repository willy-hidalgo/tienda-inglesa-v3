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92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11480" y="65105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 Inglesa | Forecasting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v13.1.0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132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Forecasting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Tienda Inglesa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Arquitectura coherente SES + RLS, diagnóstico de drivers y dashboard auditable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32104" y="385876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Causal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37947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2386584" y="3858768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Bottom-up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379476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123944" y="3858768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Multi-bloque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379476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044184" y="385876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Presentación ejecutiva · v13.1.0 · optimización estadística dentro del modelo actual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Qué hace la herramienta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Convierte historia de ventas y señales de negocio en pronósticos comparables, auditables y navegables.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4008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41248" y="16459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Pronostica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29968"/>
            <a:ext cx="3063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Unidades y Valor ($) en Sección, Tienda, SKU y SKU+Tienda.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90288" y="16459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Selecciona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029968"/>
            <a:ext cx="3063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Compara causalmente alternativas dentro de la misma familia SES+RLS usando bloques históricos cerrados.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339328" y="16459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Explica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029968"/>
            <a:ext cx="3063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Dashboard, rankings, EDP, discrepancias Actual vs Forecast y Excel de trazabilidad.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43000" y="4069080"/>
            <a:ext cx="9875520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41732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Principio de gobierno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425196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El sistema optimiza parámetros y drivers del modelo actual; no introduce modelos desconectados de la historia.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Arquitectura productiva: una sola historia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Sección/Tienda aportan dinámica RLS; SKU+Tienda aporta nivel 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64008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RLS Sección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075688"/>
            <a:ext cx="2560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Modelo recursivo expansivo con calendario, precio y drivers disponibles.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64008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32688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RLS Tienda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721608"/>
            <a:ext cx="2560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Misma familia RLS a nivel local; se compara contra Sección.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2834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64008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SKU+Tienda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2441448"/>
            <a:ext cx="2514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Nivel inicial = mediana positiva.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SES recursivo sobre toda la historia.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Parent = Sección o Tienda con menor wMAPE histórico causal.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9640" y="1874520"/>
            <a:ext cx="2834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549640" y="1874520"/>
            <a:ext cx="64008" cy="2148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750808" y="2057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Forecast final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50808" y="2441448"/>
            <a:ext cx="2514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log(1+forecast)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log(1+nivel SES)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efecto RLS del parent.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2103120"/>
            <a:ext cx="1051560" cy="3657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3611880" y="3749040"/>
            <a:ext cx="10515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498080" y="2880360"/>
            <a:ext cx="10515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388620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</a:rPr>
              <a:t>No hay una familia distinta para OOS o forecast-only.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In-sample, OOS y forecast-only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Mismo modelo, distinta información disponible en cada origen.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1056132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96112" y="213055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IN-SAMPLE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Walk-forward histórico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13632" y="2130552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OOS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28 días retenidos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05472" y="213055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FORECAST-ONLY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28 días futuros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451592" y="213055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92124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SIGUIENTE CICLO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3836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Historia expandida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Cada bloque se pronostica con el estado disponible al inicio del bloque. Los actuals del propio bloque solo actualizan el siguiente origen.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31920" y="50749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3986784" y="51389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0749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5129784" y="51389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50749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272784" y="51389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60920" y="50749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415784" y="51389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28d</a:t>
            </a:r>
            <a:endParaRPr lang="en-US" sz="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Cómo se selecciona el mejor parent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La selección no mira el bloque que intenta predecir.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307592" y="148132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408176" y="16002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Candidatos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SES + RLS Sección / SES + RLS Tienda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9464" y="2862072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2862072" y="182880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575304" y="148132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675888" y="16002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26664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Backtest causal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26664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Bloques cerrados walk-forward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37176" y="2862072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129784" y="182880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5843016" y="148132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943600" y="16002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94376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Medición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94376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wMAPE oficial; BIAS como control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4888" y="2862072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397496" y="182880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8110728" y="148132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8211312" y="16002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62088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Elección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62088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Menor wMAPE histórico acumulado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2600" y="2862072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9665208" y="1828800"/>
            <a:ext cx="196596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10378440" y="1481328"/>
            <a:ext cx="530352" cy="53035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10479024" y="16002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2980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Aplicación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2980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Mismo parent en el bloque objetivo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91840" y="4846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</a:rPr>
              <a:t>OOS actual = holdout final, no criterio de tuning.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Métricas: contrato oficial + prueba ácida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Las métricas oficiales siguen gobernando rankings y selección.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008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wMAPE oficial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67128"/>
            <a:ext cx="30632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Σ|Forecast−Actual| / Σ|Actual|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solo puntos con Actual ≠ 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Menor es mejor.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9028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BIAS oficial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167128"/>
            <a:ext cx="30632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Σ(Forecast−Actual) / Σ|Actual|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solo Actual ≠ 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Negativo=subestima.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4788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All-points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167128"/>
            <a:ext cx="30632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Mismas fórmulas incluyendo y=0.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Sirven como prueba ácida; no ordenan rankings.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4160520"/>
            <a:ext cx="1014984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325880" y="44165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3412"/>
                </a:solidFill>
              </a:rPr>
              <a:t>Bottom-up: los KPI agregados se construyen desde SKU+Tienda elegible; no se recalculan sobre una curva total que puede compensar errores.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Nueva definición de “outlier” en el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Ya no buscamos extremos aislados: buscamos desacuerdos materiales entre Actual y Forecast.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64008" cy="3383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Regla de discrepancia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075688"/>
            <a:ext cx="498348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1) Factor gap = (max(A,F)+floor)/(min(A,F)+floor)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2) floor = 5% de la mediana positiva de Actual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3) Flag si factor gap ≥ 4 y error ≥ 15% del nivel típico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   O si error absoluto ≥ 3× el nivel típico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La regla es simétrica y evita falsos positivos en valores pequeños.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446520" y="1508760"/>
            <a:ext cx="64008" cy="1325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647688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Ejemplo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7688" y="2075688"/>
            <a:ext cx="2011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Actual 1,000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Forecast 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marcado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98280" y="150876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098280" y="1508760"/>
            <a:ext cx="64008" cy="1325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299448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Ejemplo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99448" y="2075688"/>
            <a:ext cx="2011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Actual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Forecast 5,000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→ marcado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3246120"/>
            <a:ext cx="4983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446520" y="324612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647688" y="3429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Interpretación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3813048"/>
            <a:ext cx="46634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Una discrepancia reiterada en SKU+Tienda puede evidenciar nivel SES insuficiente, parent inadecuado o un driver que no captura correctamente el cambio observado.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EDP en el gráfico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Segundo eje para inspeccionar si los movimientos de precio explican discrepancias.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040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Actual / Forecast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4160520"/>
            <a:ext cx="621792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005840" y="3794760"/>
            <a:ext cx="6217920" cy="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6217920" cy="3200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8978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EDP → eje derecho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430768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SKU+Tienda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0768" y="2121408"/>
            <a:ext cx="29260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EDP observado de la hoja; futuro = carry-forward.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288036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229600" y="288036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430768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SKU agregado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0768" y="3447288"/>
            <a:ext cx="29260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Propuesta: EDP ponderado por unidades entre tiendas.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42062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8229600" y="420624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430768" y="4389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Tienda / Sección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30768" y="4773168"/>
            <a:ext cx="29260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Propuesta: índice EDP de mix fijo (base 100) para separar precio de mix.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</a:rPr>
              <a:t>EDP es diagnóstico visual; no cambia el forecast ni implica que la hoja use su propio EDP como driver.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Optimización SES: primera lectura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El alpha óptimo varía por sección/target y el holdout confirma que no existe un único alpha universal.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6583680" cy="3108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Alpha histórico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wMAPE historia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Holdout OOS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Sec 1 · Unidades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0.005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68.21%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60.72%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Sec 1 · Valor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0.005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61.14%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51.92%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Sec 23 · Unidades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0.200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80.37%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60.34%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Sec 23 · Valor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0.400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101.29%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77.21%</a:t>
                      </a:r>
                      <a:endParaRPr lang="en-US" sz="11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002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3"/>
          <p:cNvSpPr/>
          <p:nvPr/>
        </p:nvSpPr>
        <p:spPr>
          <a:xfrm>
            <a:off x="7909560" y="1600200"/>
            <a:ext cx="64008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11072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Señal clave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10728" y="2167128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Sec.23 Valor sigue siendo el caso más débil: wMAPE holdout ~77% y BIAS muy negativo.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29184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7"/>
          <p:cNvSpPr/>
          <p:nvPr/>
        </p:nvSpPr>
        <p:spPr>
          <a:xfrm>
            <a:off x="7909560" y="3291840"/>
            <a:ext cx="64008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110728" y="3474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Próximo paso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10728" y="3858768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No promover por un fold. Revisar estabilidad por hoja/segmento y relación con drivers antes de fijar alpha productivo.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94A3B8"/>
                </a:solidFill>
              </a:rPr>
              <a:t>Fuente: optimization_summary.txt · bloque 28d · diagnóstico sin promoción automática.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Optimización RLS: señales claras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Los nodos agregados muestran que lambda y dinámica pueden elegirse causalmente sin cambiar de modelo.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" cy="1645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Sección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21408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Base / λ=0.995 domina en Unidades y Valor. Holdout: 7.01% y 9.24% respectivamente.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64008" cy="1645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36008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Sección 23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2121408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AR gana en algunos targets; Valor sección favorece AR / λ=0.985 con holdout 14.56%.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64008" cy="1645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339328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Tiendas críticas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121408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00025, 00022 y otras muestran degradación fuerte; requieren revisión de drivers/regímenes, no otro modelo.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La optimización se mantiene dentro de RLS: dinámica base/AR + lambda. No se introduce ninguna familia alternativa.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94A3B8"/>
                </a:solidFill>
              </a:rPr>
              <a:t>Fuente: optimization_summary.txt · selección histórica; OOS actual solo holdout.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Drivers actuales: qué está funcionando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El screening identifica señal útil, pero aún no autoriza cambios automáticos.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" cy="1554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2140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Muy fuerte en Unidades: delta +18.7% en Sec1 sección y +90.0% en Sec23 tiendas.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64008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90288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Día de semana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Útil y estable en varios niveles; especialmente Sec23 Valor (~13% delta).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64008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47888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12140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Señal relevante en Sec23; más irregular en Sec1.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64008" cy="1554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32688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Festivos / otros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408736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Contribución débil o inestable en la mayoría de grupos.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4389120" y="352044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590288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Autoregresivo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408736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Útil solo en algunos nodos de Sec23; débil/inestable en otros.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8046720" y="3520440"/>
            <a:ext cx="64008" cy="1554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8247888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Gobierno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7888" y="4087368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Siguiente paso: ablation refiteada del mismo RLS antes de quitar o añadir drivers.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94A3B8"/>
                </a:solidFill>
              </a:rPr>
              <a:t>Fuente: optimization_summary.txt · delta&gt;0 significa que anular el grupo empeora wMAPE.</a:t>
            </a:r>
            <a:endParaRPr lang="en-US" sz="78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Dashboard operativo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El usuario navega resultados precalculados; Streamlit no reentrena modelos.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5486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Selector multi-bloque: 1d / 7d / 14d / 28d.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Rankings oficiales por wMAPE excluyendo y=0; all-points como prueba ácida.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Gráfico único: actual + in-sample + OOS + forecast-only.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Discrepancias Actual vs Forecast visibles con un toggle.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EDP SKU+Tienda en segundo eje.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Auditoría Excel bajo demanda para una sola hoja.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691640"/>
            <a:ext cx="4297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903720" y="1691640"/>
            <a:ext cx="64008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104888" y="1874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04888" y="2258568"/>
            <a:ext cx="39776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Artefactos precalculados por bloque/sección. EDP se calcula solo para la hoja seleccionada; no se materializa para millones de filas.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3794760"/>
            <a:ext cx="4297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6903720" y="3794760"/>
            <a:ext cx="64008" cy="1463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104888" y="3977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Interpretación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04888" y="4361688"/>
            <a:ext cx="39776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 marcador rojo no “elimina” el punto: obliga a revisar nivel, parent y drivers.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Excel de auditoría SKU+Tienda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El objetivo es poder reconstruir el forecast sin leer código Python.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86968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721608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EDP / ASP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21608" y="198424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355080" y="1417320"/>
            <a:ext cx="64008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556248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Nivel inicial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6248" y="198424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9189720" y="141732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390888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Nivel 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90888" y="198424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29260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85800" y="292608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86968" y="3108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Actual desest.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349300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29260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3520440" y="292608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721608" y="3108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Parent RLS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21608" y="349300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29260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6355080" y="2926080"/>
            <a:ext cx="64008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6556248" y="3108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Efecto drivers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6248" y="349300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9720" y="29260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31"/>
          <p:cNvSpPr/>
          <p:nvPr/>
        </p:nvSpPr>
        <p:spPr>
          <a:xfrm>
            <a:off x="9189720" y="292608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9390888" y="3108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Factor drivers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90888" y="349300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" y="44348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685800" y="443484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886968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Forecast raw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6968" y="500176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20440" y="44348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Shape 39"/>
          <p:cNvSpPr/>
          <p:nvPr/>
        </p:nvSpPr>
        <p:spPr>
          <a:xfrm>
            <a:off x="3520440" y="443484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3721608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Forecast final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721608" y="500176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44348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Shape 43"/>
          <p:cNvSpPr/>
          <p:nvPr/>
        </p:nvSpPr>
        <p:spPr>
          <a:xfrm>
            <a:off x="6355080" y="4434840"/>
            <a:ext cx="64008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4"/>
          <p:cNvSpPr/>
          <p:nvPr/>
        </p:nvSpPr>
        <p:spPr>
          <a:xfrm>
            <a:off x="6556248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Error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56248" y="500176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diaria.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89720" y="44348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Shape 47"/>
          <p:cNvSpPr/>
          <p:nvPr/>
        </p:nvSpPr>
        <p:spPr>
          <a:xfrm>
            <a:off x="9189720" y="443484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8"/>
          <p:cNvSpPr/>
          <p:nvPr/>
        </p:nvSpPr>
        <p:spPr>
          <a:xfrm>
            <a:off x="9390888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wMAPE / BIAS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90888" y="5001768"/>
            <a:ext cx="2194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Contribuciones y acumulado.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011680" y="5623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Caso objetivo: SKU 455436 · Tienda 00154 · Valor ($)</a:t>
            </a:r>
            <a:endParaRPr lang="en-US" sz="16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Qué significa una discrepancia persistente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La herramienta debe ayudar a diagnosticar, no solo a medir.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64008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78408" y="150876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Nivel 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892808"/>
            <a:ext cx="10378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¿El nivel histórico quedó demasiado alto/bajo?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64008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78408" y="242316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807208"/>
            <a:ext cx="10378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¿Sección o Tienda representa mejor a la hoja?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64008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78408" y="333756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Precio / EDP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721608"/>
            <a:ext cx="10378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¿Hay cambio de precio no reflejado en el efecto RLS disponible?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0690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78408" y="425196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Calendario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4636008"/>
            <a:ext cx="10378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¿Día/mes/festividad explican el patrón?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9834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77240" y="4983480"/>
            <a:ext cx="64008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978408" y="516636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Residuo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" y="5550408"/>
            <a:ext cx="10378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 nada lo explica, hay evidencia para revisar/añadir drivers, previa aprobación.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Flujo operativo de punta a punta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Un ciclo reproducible y auditable.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3035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Actualizar datos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66544" y="2560320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377440" y="205740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45059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Forecast SES+RLS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86784" y="2560320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37083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Optimización diagnóstica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07024" y="2560320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29107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Artefactos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27264" y="2560320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1131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Validaciones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47504" y="2560320"/>
            <a:ext cx="26517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10058400" y="2057400"/>
            <a:ext cx="160020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0131552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Dashboard / Excel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023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La optimización no modifica automáticamente producción: primero diagnostica; luego se promueven parámetros/drivers aprobados.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Próximos pasos de optimización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Continuar dentro del marco aprobado, sin cambiar la lógica del modelo.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" cy="2011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 · 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984248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Validar alphas por sección/target y estabilidad por folds; evitar promover parámetros que solo ganan el holdout.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90288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 · RLS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1984248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Promover lambda/dinámica solo si gana históricamente y mantiene BIAS/holdout razonables.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64008" cy="2011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47888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 · Drivers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1984248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Ablation refiteada del mismo RLS. Si faltan drivers, presentar evidencia y pedir aprobación antes de incorporarlos.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4160520"/>
            <a:ext cx="996696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37160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</a:rPr>
              <a:t>Restricción permanente: in-sample, OOS y forecast-only deben seguir contando la misma historia estadística.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Anexo. Glosario ejecutivo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Términos frecuentes en dashboard y reportes.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6400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32688" y="1508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Suavizamiento exponencial del nivel de la hoja.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64008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510528" y="1508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1892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Regresión recursiva con parámetros que se actualizan con historia.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6400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32688" y="2651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EDP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035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Precio de referencia estimado por descomposición de ASP.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309360" y="2468880"/>
            <a:ext cx="64008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510528" y="2651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035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Bloque histórico retenido para evaluar como futuro.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6400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932688" y="3794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Forecast-only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4178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28 días futuros sin actuals.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6309360" y="3611880"/>
            <a:ext cx="64008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510528" y="3794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wMAPE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0528" y="4178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Error absoluto ponderado por volumen.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754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6400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932688" y="4937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BIAS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5321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Sesgo direccional del forecast.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7548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31"/>
          <p:cNvSpPr/>
          <p:nvPr/>
        </p:nvSpPr>
        <p:spPr>
          <a:xfrm>
            <a:off x="6309360" y="4754880"/>
            <a:ext cx="64008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6510528" y="49377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Bottom-up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0528" y="5321808"/>
            <a:ext cx="4800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Agregación de contribuciones desde SKU+Tienda.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Widescreen</PresentationFormat>
  <Paragraphs>283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Tienda Inglesa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Tienda Inglesa — Presentación Ejecutiva v13.1.0</dc:title>
  <dc:subject>Forecasting Tienda Inglesa v13.1.0</dc:subject>
  <dc:creator>OpenAI</dc:creator>
  <cp:lastModifiedBy>Willy Hidalgo</cp:lastModifiedBy>
  <cp:revision>2</cp:revision>
  <dcterms:created xsi:type="dcterms:W3CDTF">2026-09-08T22:45:44Z</dcterms:created>
  <dcterms:modified xsi:type="dcterms:W3CDTF">2026-09-09T21:05:32Z</dcterms:modified>
</cp:coreProperties>
</file>